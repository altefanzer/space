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9" r:id="rId3"/>
    <p:sldId id="261" r:id="rId4"/>
    <p:sldId id="265" r:id="rId5"/>
    <p:sldId id="270" r:id="rId6"/>
    <p:sldId id="271" r:id="rId7"/>
    <p:sldId id="272" r:id="rId8"/>
    <p:sldId id="276" r:id="rId9"/>
    <p:sldId id="275" r:id="rId10"/>
    <p:sldId id="274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7C187"/>
    <a:srgbClr val="FAFAFC"/>
    <a:srgbClr val="010B40"/>
    <a:srgbClr val="EFF6FE"/>
    <a:srgbClr val="001B46"/>
    <a:srgbClr val="F7F8FA"/>
    <a:srgbClr val="ECE0D2"/>
    <a:srgbClr val="702877"/>
    <a:srgbClr val="E6BD91"/>
    <a:srgbClr val="E9BF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8D230F3-CF80-4859-8CE7-A43EE81993B5}" styleName="Светлый стиль 1 — акцент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0E3FDE45-AF77-4B5C-9715-49D594BDF05E}" styleName="Светлый стиль 1 — акцент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D7B26C5-4107-4FEC-AEDC-1716B250A1EF}" styleName="Светлый стиль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Светлый стиль 1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D27102A9-8310-4765-A935-A1911B00CA55}" styleName="Светлый стиль 1 — акцент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254" autoAdjust="0"/>
  </p:normalViewPr>
  <p:slideViewPr>
    <p:cSldViewPr snapToGrid="0" showGuides="1">
      <p:cViewPr varScale="1">
        <p:scale>
          <a:sx n="90" d="100"/>
          <a:sy n="90" d="100"/>
        </p:scale>
        <p:origin x="398" y="624"/>
      </p:cViewPr>
      <p:guideLst>
        <p:guide orient="horz" pos="2137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D0605C-88D7-4F13-BD0E-CE60D29E8A05}" type="datetimeFigureOut">
              <a:rPr lang="ru-RU" smtClean="0"/>
              <a:t>26.10.2026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F512AF-4B64-4F69-A0B1-695D036515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783716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hyperlink" Target="https://presentation-creation.ru/" TargetMode="External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presentation-creation.ru/" TargetMode="External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presentation-creation.ru/" TargetMode="External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7FBACB-9F50-4441-8ED3-B716FC3C33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40801" y="2026537"/>
            <a:ext cx="7910398" cy="1252437"/>
          </a:xfrm>
          <a:noFill/>
        </p:spPr>
        <p:txBody>
          <a:bodyPr anchor="b"/>
          <a:lstStyle>
            <a:lvl1pPr algn="ctr">
              <a:defRPr sz="6000"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5108AA0-6708-4354-A113-6D77F977DB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40801" y="3432924"/>
            <a:ext cx="7910398" cy="1252437"/>
          </a:xfrm>
          <a:noFill/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DF6A399-C931-4A0A-AE5C-DFFF481610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0737880-2EBA-47EC-9021-3B75E1707F8E}" type="datetimeFigureOut">
              <a:rPr lang="ru-RU" smtClean="0"/>
              <a:pPr/>
              <a:t>26.10.2026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EB0B664-33BA-4E10-9711-E8824D1085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7C1616C-5913-4F6F-BC7E-042278A59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1D65DC0-92EF-44A8-B885-50DCCD99F6D5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03B8BBF3-8DDC-415E-8A9F-4A821681F77C}"/>
              </a:ext>
            </a:extLst>
          </p:cNvPr>
          <p:cNvSpPr/>
          <p:nvPr userDrawn="1"/>
        </p:nvSpPr>
        <p:spPr>
          <a:xfrm rot="16200000">
            <a:off x="13647006" y="1690688"/>
            <a:ext cx="24826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chemeClr val="tx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presentation-creation.ru</a:t>
            </a:r>
            <a:endParaRPr lang="ru-R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01873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C86FF47A-51C3-4D57-AF90-8F3AF244BC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8242" y="1819441"/>
            <a:ext cx="10902118" cy="4297580"/>
          </a:xfrm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6FD23E0-3191-4599-BD5E-12527F2CA3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0737880-2EBA-47EC-9021-3B75E1707F8E}" type="datetimeFigureOut">
              <a:rPr lang="ru-RU" smtClean="0"/>
              <a:pPr/>
              <a:t>26.10.2026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EA6F514-F402-4139-96B4-CC85A617F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3885B40-89D2-42AB-B0A3-0D1632E58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1D65DC0-92EF-44A8-B885-50DCCD99F6D5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40C9D58-B66F-4283-A5DF-78695E7B4DF8}"/>
              </a:ext>
            </a:extLst>
          </p:cNvPr>
          <p:cNvSpPr/>
          <p:nvPr userDrawn="1"/>
        </p:nvSpPr>
        <p:spPr>
          <a:xfrm rot="16200000">
            <a:off x="13647006" y="1690688"/>
            <a:ext cx="24826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chemeClr val="tx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presentation-creation.ru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3F22BFD1-5D3D-4CCE-AA1F-3CB0A1CB0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1655" y="374213"/>
            <a:ext cx="9753600" cy="1325563"/>
          </a:xfrm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44799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Заголовок и объект"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>
            <a:extLst>
              <a:ext uri="{FF2B5EF4-FFF2-40B4-BE49-F238E27FC236}">
                <a16:creationId xmlns:a16="http://schemas.microsoft.com/office/drawing/2014/main" id="{96FD23E0-3191-4599-BD5E-12527F2CA33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9116" y="6356350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0737880-2EBA-47EC-9021-3B75E1707F8E}" type="datetimeFigureOut">
              <a:rPr lang="ru-RU" smtClean="0"/>
              <a:pPr/>
              <a:t>26.10.2026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EA6F514-F402-4139-96B4-CC85A617F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29516" y="6356350"/>
            <a:ext cx="41148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3885B40-89D2-42AB-B0A3-0D1632E58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8972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1D65DC0-92EF-44A8-B885-50DCCD99F6D5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40C9D58-B66F-4283-A5DF-78695E7B4DF8}"/>
              </a:ext>
            </a:extLst>
          </p:cNvPr>
          <p:cNvSpPr/>
          <p:nvPr userDrawn="1"/>
        </p:nvSpPr>
        <p:spPr>
          <a:xfrm rot="16200000">
            <a:off x="13647006" y="1690688"/>
            <a:ext cx="24826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chemeClr val="tx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presentation-creation.ru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8" name="Объект 2">
            <a:extLst>
              <a:ext uri="{FF2B5EF4-FFF2-40B4-BE49-F238E27FC236}">
                <a16:creationId xmlns:a16="http://schemas.microsoft.com/office/drawing/2014/main" id="{7D183F3B-3A92-4236-9C76-EA695DC56F6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74482" y="1867526"/>
            <a:ext cx="7870785" cy="555150"/>
          </a:xfr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9" name="Объект 2">
            <a:extLst>
              <a:ext uri="{FF2B5EF4-FFF2-40B4-BE49-F238E27FC236}">
                <a16:creationId xmlns:a16="http://schemas.microsoft.com/office/drawing/2014/main" id="{E134F98D-E894-44DB-A17F-CE5EEF133172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1174481" y="2557613"/>
            <a:ext cx="7870785" cy="55515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10" name="Полилиния: фигура 9">
            <a:extLst>
              <a:ext uri="{FF2B5EF4-FFF2-40B4-BE49-F238E27FC236}">
                <a16:creationId xmlns:a16="http://schemas.microsoft.com/office/drawing/2014/main" id="{85569958-0FF5-4BFB-BBE8-25A41BF9E8B9}"/>
              </a:ext>
            </a:extLst>
          </p:cNvPr>
          <p:cNvSpPr/>
          <p:nvPr userDrawn="1"/>
        </p:nvSpPr>
        <p:spPr>
          <a:xfrm>
            <a:off x="681594" y="1965693"/>
            <a:ext cx="358815" cy="358815"/>
          </a:xfrm>
          <a:custGeom>
            <a:avLst/>
            <a:gdLst>
              <a:gd name="connsiteX0" fmla="*/ 1267460 w 2534920"/>
              <a:gd name="connsiteY0" fmla="*/ 416560 h 2534920"/>
              <a:gd name="connsiteX1" fmla="*/ 416560 w 2534920"/>
              <a:gd name="connsiteY1" fmla="*/ 1267460 h 2534920"/>
              <a:gd name="connsiteX2" fmla="*/ 1267460 w 2534920"/>
              <a:gd name="connsiteY2" fmla="*/ 2118360 h 2534920"/>
              <a:gd name="connsiteX3" fmla="*/ 2118360 w 2534920"/>
              <a:gd name="connsiteY3" fmla="*/ 1267460 h 2534920"/>
              <a:gd name="connsiteX4" fmla="*/ 1267460 w 2534920"/>
              <a:gd name="connsiteY4" fmla="*/ 416560 h 2534920"/>
              <a:gd name="connsiteX5" fmla="*/ 1267460 w 2534920"/>
              <a:gd name="connsiteY5" fmla="*/ 0 h 2534920"/>
              <a:gd name="connsiteX6" fmla="*/ 2534920 w 2534920"/>
              <a:gd name="connsiteY6" fmla="*/ 1267460 h 2534920"/>
              <a:gd name="connsiteX7" fmla="*/ 1267460 w 2534920"/>
              <a:gd name="connsiteY7" fmla="*/ 2534920 h 2534920"/>
              <a:gd name="connsiteX8" fmla="*/ 0 w 2534920"/>
              <a:gd name="connsiteY8" fmla="*/ 1267460 h 2534920"/>
              <a:gd name="connsiteX9" fmla="*/ 1267460 w 2534920"/>
              <a:gd name="connsiteY9" fmla="*/ 0 h 2534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534920" h="2534920">
                <a:moveTo>
                  <a:pt x="1267460" y="416560"/>
                </a:moveTo>
                <a:cubicBezTo>
                  <a:pt x="797521" y="416560"/>
                  <a:pt x="416560" y="797521"/>
                  <a:pt x="416560" y="1267460"/>
                </a:cubicBezTo>
                <a:cubicBezTo>
                  <a:pt x="416560" y="1737399"/>
                  <a:pt x="797521" y="2118360"/>
                  <a:pt x="1267460" y="2118360"/>
                </a:cubicBezTo>
                <a:cubicBezTo>
                  <a:pt x="1737399" y="2118360"/>
                  <a:pt x="2118360" y="1737399"/>
                  <a:pt x="2118360" y="1267460"/>
                </a:cubicBezTo>
                <a:cubicBezTo>
                  <a:pt x="2118360" y="797521"/>
                  <a:pt x="1737399" y="416560"/>
                  <a:pt x="1267460" y="416560"/>
                </a:cubicBezTo>
                <a:close/>
                <a:moveTo>
                  <a:pt x="1267460" y="0"/>
                </a:moveTo>
                <a:cubicBezTo>
                  <a:pt x="1967459" y="0"/>
                  <a:pt x="2534920" y="567461"/>
                  <a:pt x="2534920" y="1267460"/>
                </a:cubicBezTo>
                <a:cubicBezTo>
                  <a:pt x="2534920" y="1967459"/>
                  <a:pt x="1967459" y="2534920"/>
                  <a:pt x="1267460" y="2534920"/>
                </a:cubicBezTo>
                <a:cubicBezTo>
                  <a:pt x="567461" y="2534920"/>
                  <a:pt x="0" y="1967459"/>
                  <a:pt x="0" y="1267460"/>
                </a:cubicBezTo>
                <a:cubicBezTo>
                  <a:pt x="0" y="567461"/>
                  <a:pt x="567461" y="0"/>
                  <a:pt x="126746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11" name="Объект 2">
            <a:extLst>
              <a:ext uri="{FF2B5EF4-FFF2-40B4-BE49-F238E27FC236}">
                <a16:creationId xmlns:a16="http://schemas.microsoft.com/office/drawing/2014/main" id="{1FE47FD2-6DAE-46C6-8AE3-1705CAEB5733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1159692" y="3442801"/>
            <a:ext cx="7870785" cy="555150"/>
          </a:xfr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2" name="Объект 2">
            <a:extLst>
              <a:ext uri="{FF2B5EF4-FFF2-40B4-BE49-F238E27FC236}">
                <a16:creationId xmlns:a16="http://schemas.microsoft.com/office/drawing/2014/main" id="{28EC56F2-0C89-4A53-827A-1312C603D0DB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1159691" y="4132888"/>
            <a:ext cx="7870785" cy="55515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13" name="Полилиния: фигура 12">
            <a:extLst>
              <a:ext uri="{FF2B5EF4-FFF2-40B4-BE49-F238E27FC236}">
                <a16:creationId xmlns:a16="http://schemas.microsoft.com/office/drawing/2014/main" id="{4DD4FCBF-1484-471E-A8F4-FB57BBD4C643}"/>
              </a:ext>
            </a:extLst>
          </p:cNvPr>
          <p:cNvSpPr/>
          <p:nvPr userDrawn="1"/>
        </p:nvSpPr>
        <p:spPr>
          <a:xfrm>
            <a:off x="681594" y="3540968"/>
            <a:ext cx="358815" cy="358815"/>
          </a:xfrm>
          <a:custGeom>
            <a:avLst/>
            <a:gdLst>
              <a:gd name="connsiteX0" fmla="*/ 1267460 w 2534920"/>
              <a:gd name="connsiteY0" fmla="*/ 416560 h 2534920"/>
              <a:gd name="connsiteX1" fmla="*/ 416560 w 2534920"/>
              <a:gd name="connsiteY1" fmla="*/ 1267460 h 2534920"/>
              <a:gd name="connsiteX2" fmla="*/ 1267460 w 2534920"/>
              <a:gd name="connsiteY2" fmla="*/ 2118360 h 2534920"/>
              <a:gd name="connsiteX3" fmla="*/ 2118360 w 2534920"/>
              <a:gd name="connsiteY3" fmla="*/ 1267460 h 2534920"/>
              <a:gd name="connsiteX4" fmla="*/ 1267460 w 2534920"/>
              <a:gd name="connsiteY4" fmla="*/ 416560 h 2534920"/>
              <a:gd name="connsiteX5" fmla="*/ 1267460 w 2534920"/>
              <a:gd name="connsiteY5" fmla="*/ 0 h 2534920"/>
              <a:gd name="connsiteX6" fmla="*/ 2534920 w 2534920"/>
              <a:gd name="connsiteY6" fmla="*/ 1267460 h 2534920"/>
              <a:gd name="connsiteX7" fmla="*/ 1267460 w 2534920"/>
              <a:gd name="connsiteY7" fmla="*/ 2534920 h 2534920"/>
              <a:gd name="connsiteX8" fmla="*/ 0 w 2534920"/>
              <a:gd name="connsiteY8" fmla="*/ 1267460 h 2534920"/>
              <a:gd name="connsiteX9" fmla="*/ 1267460 w 2534920"/>
              <a:gd name="connsiteY9" fmla="*/ 0 h 2534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534920" h="2534920">
                <a:moveTo>
                  <a:pt x="1267460" y="416560"/>
                </a:moveTo>
                <a:cubicBezTo>
                  <a:pt x="797521" y="416560"/>
                  <a:pt x="416560" y="797521"/>
                  <a:pt x="416560" y="1267460"/>
                </a:cubicBezTo>
                <a:cubicBezTo>
                  <a:pt x="416560" y="1737399"/>
                  <a:pt x="797521" y="2118360"/>
                  <a:pt x="1267460" y="2118360"/>
                </a:cubicBezTo>
                <a:cubicBezTo>
                  <a:pt x="1737399" y="2118360"/>
                  <a:pt x="2118360" y="1737399"/>
                  <a:pt x="2118360" y="1267460"/>
                </a:cubicBezTo>
                <a:cubicBezTo>
                  <a:pt x="2118360" y="797521"/>
                  <a:pt x="1737399" y="416560"/>
                  <a:pt x="1267460" y="416560"/>
                </a:cubicBezTo>
                <a:close/>
                <a:moveTo>
                  <a:pt x="1267460" y="0"/>
                </a:moveTo>
                <a:cubicBezTo>
                  <a:pt x="1967459" y="0"/>
                  <a:pt x="2534920" y="567461"/>
                  <a:pt x="2534920" y="1267460"/>
                </a:cubicBezTo>
                <a:cubicBezTo>
                  <a:pt x="2534920" y="1967459"/>
                  <a:pt x="1967459" y="2534920"/>
                  <a:pt x="1267460" y="2534920"/>
                </a:cubicBezTo>
                <a:cubicBezTo>
                  <a:pt x="567461" y="2534920"/>
                  <a:pt x="0" y="1967459"/>
                  <a:pt x="0" y="1267460"/>
                </a:cubicBezTo>
                <a:cubicBezTo>
                  <a:pt x="0" y="567461"/>
                  <a:pt x="567461" y="0"/>
                  <a:pt x="126746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14" name="Объект 2">
            <a:extLst>
              <a:ext uri="{FF2B5EF4-FFF2-40B4-BE49-F238E27FC236}">
                <a16:creationId xmlns:a16="http://schemas.microsoft.com/office/drawing/2014/main" id="{CFA3BAFF-7DE8-48A4-B2B0-B0085957F76A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1151332" y="4957912"/>
            <a:ext cx="7870785" cy="555150"/>
          </a:xfr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5" name="Объект 2">
            <a:extLst>
              <a:ext uri="{FF2B5EF4-FFF2-40B4-BE49-F238E27FC236}">
                <a16:creationId xmlns:a16="http://schemas.microsoft.com/office/drawing/2014/main" id="{C0E22CB0-862D-49A8-B966-5F34D0022F30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1151331" y="5647999"/>
            <a:ext cx="7870785" cy="55515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16" name="Полилиния: фигура 15">
            <a:extLst>
              <a:ext uri="{FF2B5EF4-FFF2-40B4-BE49-F238E27FC236}">
                <a16:creationId xmlns:a16="http://schemas.microsoft.com/office/drawing/2014/main" id="{EAD0C562-F40F-4023-815B-144925507E09}"/>
              </a:ext>
            </a:extLst>
          </p:cNvPr>
          <p:cNvSpPr/>
          <p:nvPr userDrawn="1"/>
        </p:nvSpPr>
        <p:spPr>
          <a:xfrm>
            <a:off x="681594" y="5116243"/>
            <a:ext cx="358815" cy="358815"/>
          </a:xfrm>
          <a:custGeom>
            <a:avLst/>
            <a:gdLst>
              <a:gd name="connsiteX0" fmla="*/ 1267460 w 2534920"/>
              <a:gd name="connsiteY0" fmla="*/ 416560 h 2534920"/>
              <a:gd name="connsiteX1" fmla="*/ 416560 w 2534920"/>
              <a:gd name="connsiteY1" fmla="*/ 1267460 h 2534920"/>
              <a:gd name="connsiteX2" fmla="*/ 1267460 w 2534920"/>
              <a:gd name="connsiteY2" fmla="*/ 2118360 h 2534920"/>
              <a:gd name="connsiteX3" fmla="*/ 2118360 w 2534920"/>
              <a:gd name="connsiteY3" fmla="*/ 1267460 h 2534920"/>
              <a:gd name="connsiteX4" fmla="*/ 1267460 w 2534920"/>
              <a:gd name="connsiteY4" fmla="*/ 416560 h 2534920"/>
              <a:gd name="connsiteX5" fmla="*/ 1267460 w 2534920"/>
              <a:gd name="connsiteY5" fmla="*/ 0 h 2534920"/>
              <a:gd name="connsiteX6" fmla="*/ 2534920 w 2534920"/>
              <a:gd name="connsiteY6" fmla="*/ 1267460 h 2534920"/>
              <a:gd name="connsiteX7" fmla="*/ 1267460 w 2534920"/>
              <a:gd name="connsiteY7" fmla="*/ 2534920 h 2534920"/>
              <a:gd name="connsiteX8" fmla="*/ 0 w 2534920"/>
              <a:gd name="connsiteY8" fmla="*/ 1267460 h 2534920"/>
              <a:gd name="connsiteX9" fmla="*/ 1267460 w 2534920"/>
              <a:gd name="connsiteY9" fmla="*/ 0 h 2534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534920" h="2534920">
                <a:moveTo>
                  <a:pt x="1267460" y="416560"/>
                </a:moveTo>
                <a:cubicBezTo>
                  <a:pt x="797521" y="416560"/>
                  <a:pt x="416560" y="797521"/>
                  <a:pt x="416560" y="1267460"/>
                </a:cubicBezTo>
                <a:cubicBezTo>
                  <a:pt x="416560" y="1737399"/>
                  <a:pt x="797521" y="2118360"/>
                  <a:pt x="1267460" y="2118360"/>
                </a:cubicBezTo>
                <a:cubicBezTo>
                  <a:pt x="1737399" y="2118360"/>
                  <a:pt x="2118360" y="1737399"/>
                  <a:pt x="2118360" y="1267460"/>
                </a:cubicBezTo>
                <a:cubicBezTo>
                  <a:pt x="2118360" y="797521"/>
                  <a:pt x="1737399" y="416560"/>
                  <a:pt x="1267460" y="416560"/>
                </a:cubicBezTo>
                <a:close/>
                <a:moveTo>
                  <a:pt x="1267460" y="0"/>
                </a:moveTo>
                <a:cubicBezTo>
                  <a:pt x="1967459" y="0"/>
                  <a:pt x="2534920" y="567461"/>
                  <a:pt x="2534920" y="1267460"/>
                </a:cubicBezTo>
                <a:cubicBezTo>
                  <a:pt x="2534920" y="1967459"/>
                  <a:pt x="1967459" y="2534920"/>
                  <a:pt x="1267460" y="2534920"/>
                </a:cubicBezTo>
                <a:cubicBezTo>
                  <a:pt x="567461" y="2534920"/>
                  <a:pt x="0" y="1967459"/>
                  <a:pt x="0" y="1267460"/>
                </a:cubicBezTo>
                <a:cubicBezTo>
                  <a:pt x="0" y="567461"/>
                  <a:pt x="567461" y="0"/>
                  <a:pt x="1267460" y="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17" name="Заголовок 1">
            <a:extLst>
              <a:ext uri="{FF2B5EF4-FFF2-40B4-BE49-F238E27FC236}">
                <a16:creationId xmlns:a16="http://schemas.microsoft.com/office/drawing/2014/main" id="{C6562925-5247-4CD9-8F00-306CD15D77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1655" y="374213"/>
            <a:ext cx="9753600" cy="1325563"/>
          </a:xfrm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763891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9994AA-8E37-49B9-B7FD-70C9EDB559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29D3217-5679-4BD5-9137-936BBEF044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A241DAA-6DAD-4AF1-92A7-80EA5983C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37880-2EBA-47EC-9021-3B75E1707F8E}" type="datetimeFigureOut">
              <a:rPr lang="ru-RU" smtClean="0"/>
              <a:t>26.10.2026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1F71DA9-CB59-43B2-BC65-168CA6DBB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E9DDAF3-236F-45E6-8A32-CAB15B0A4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65DC0-92EF-44A8-B885-50DCCD99F6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27031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44B75CB-2D4D-4ACD-8C8D-4C2BAD7AAC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EC3ABA4-A807-4474-9B99-B3F3035634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A74E14E-F711-4893-A702-1E439BB601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CB79428-64FD-4048-868A-AF62FE7807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37880-2EBA-47EC-9021-3B75E1707F8E}" type="datetimeFigureOut">
              <a:rPr lang="ru-RU" smtClean="0"/>
              <a:t>26.10.2026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F435336-5740-41F7-8C21-58393F7EF7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67A9915-F2A9-4940-AD5E-18633F23D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65DC0-92EF-44A8-B885-50DCCD99F6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00955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4847F47-3388-4C54-86ED-1F5AC9D5F2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0EB5753-50F0-4209-B123-25FADDB51C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91554F4-56DF-4692-B17F-B6D705D23C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958255A-938B-4F58-BD82-7E759AF997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EED02AF3-9A33-42E0-932E-996CE9841E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3B9055FB-1844-4EFC-AC3D-D0C069AC92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37880-2EBA-47EC-9021-3B75E1707F8E}" type="datetimeFigureOut">
              <a:rPr lang="ru-RU" smtClean="0"/>
              <a:t>26.10.2026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DBDFBD12-6B72-40B5-B7A4-8BC668BFC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7E826D7F-C774-4B3E-99F7-4A3F9D1C8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65DC0-92EF-44A8-B885-50DCCD99F6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4653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C5C167-DA4C-4DE7-8E6D-1438E673F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A52AE09E-C067-4546-AABC-AF31901DA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37880-2EBA-47EC-9021-3B75E1707F8E}" type="datetimeFigureOut">
              <a:rPr lang="ru-RU" smtClean="0"/>
              <a:t>26.10.2026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17C63C74-25D6-413A-BF81-1BAC312C6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AF3BE6B-3F7C-44CA-89A7-39FB44B54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65DC0-92EF-44A8-B885-50DCCD99F6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23628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4A83ACF7-0141-4CD0-9C08-29BFD52A1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37880-2EBA-47EC-9021-3B75E1707F8E}" type="datetimeFigureOut">
              <a:rPr lang="ru-RU" smtClean="0"/>
              <a:t>26.10.2026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43707B24-6D1E-4250-9F7C-B50DC6C2E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F281886-4B75-4555-843A-A14D282007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65DC0-92EF-44A8-B885-50DCCD99F6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74267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F95817-5E1D-4B28-9BB8-1CAFD74718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2FD6170-D32F-4D5E-A219-CE4EBE45F8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D4CA122-ADD3-4BC3-94B6-FEFC10D361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6168CA4-CE35-4686-88C8-3BF6B0A00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37880-2EBA-47EC-9021-3B75E1707F8E}" type="datetimeFigureOut">
              <a:rPr lang="ru-RU" smtClean="0"/>
              <a:t>26.10.2026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9DCE16E-2FA2-448D-8001-A9876F2F3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ED05DFA-02F3-40C2-9B8E-C5302CCBE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65DC0-92EF-44A8-B885-50DCCD99F6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5223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E7D842-145D-49C7-ADFC-42DF1DFF8C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AFB3922E-7741-4059-A65F-490977F4A92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E61D1DD-C329-4C28-A753-5AFEBACE8F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0E647DB-F800-4A7B-BA76-B05E52D80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37880-2EBA-47EC-9021-3B75E1707F8E}" type="datetimeFigureOut">
              <a:rPr lang="ru-RU" smtClean="0"/>
              <a:t>26.10.2026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856E5D4-6B17-4DAF-B284-FD912646A5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CBD4B6B-30B6-4D67-8DD1-6CF5FC1A0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65DC0-92EF-44A8-B885-50DCCD99F6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90770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9C92BF-2752-4004-8342-065C4B601E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7F91964-3980-49C8-B3A8-283781FC7B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64790CE-5C53-47FC-8413-F89AF1759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37880-2EBA-47EC-9021-3B75E1707F8E}" type="datetimeFigureOut">
              <a:rPr lang="ru-RU" smtClean="0"/>
              <a:t>26.10.2026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19849BC-BAD9-4C0D-A675-70D978BF9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E665C67-270E-4DBC-8E4C-B0ED31CC0E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65DC0-92EF-44A8-B885-50DCCD99F6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24749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DB325CD4-7AAE-4D3B-B241-E41035B258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582F875-B04A-4E1A-8512-8C8F94B2EC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EDD487A-1FC2-44CE-9930-7C7DED14F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37880-2EBA-47EC-9021-3B75E1707F8E}" type="datetimeFigureOut">
              <a:rPr lang="ru-RU" smtClean="0"/>
              <a:t>26.10.2026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1F2E820-E78E-4484-B653-D69D1C9CE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9CA4D89-658F-4150-961E-B5A3F7054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65DC0-92EF-44A8-B885-50DCCD99F6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918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hyperlink" Target="https://presentation-creation.ru/" TargetMode="Externa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601465-D77B-4859-93D3-B80CB67F45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3FBDCF8-67DD-4258-A5FF-10C5CC11EA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0B82C6C-6CC4-4A72-A1A8-ED44642F44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737880-2EBA-47EC-9021-3B75E1707F8E}" type="datetimeFigureOut">
              <a:rPr lang="ru-RU" smtClean="0"/>
              <a:t>26.10.2026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E087DCD-1CDE-49BB-AA51-F818D36116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6ED8D0A-4ACE-4D47-88F3-AD2E99ACE4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D65DC0-92EF-44A8-B885-50DCCD99F6D5}" type="slidenum">
              <a:rPr lang="ru-RU" smtClean="0"/>
              <a:t>‹#›</a:t>
            </a:fld>
            <a:endParaRPr lang="ru-RU"/>
          </a:p>
        </p:txBody>
      </p:sp>
      <p:pic>
        <p:nvPicPr>
          <p:cNvPr id="7" name="Рисунок 6">
            <a:hlinkClick r:id="rId14"/>
            <a:extLst>
              <a:ext uri="{FF2B5EF4-FFF2-40B4-BE49-F238E27FC236}">
                <a16:creationId xmlns:a16="http://schemas.microsoft.com/office/drawing/2014/main" id="{D3913BE6-3DBC-4A10-9146-D759F3AFA3C8}"/>
              </a:ext>
            </a:extLst>
          </p:cNvPr>
          <p:cNvPicPr>
            <a:picLocks noChangeAspect="1"/>
          </p:cNvPicPr>
          <p:nvPr userDrawn="1"/>
        </p:nvPicPr>
        <p:blipFill>
          <a:blip r:embed="rId1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4758584" y="-1519762"/>
            <a:ext cx="757762" cy="757762"/>
          </a:xfrm>
          <a:prstGeom prst="rect">
            <a:avLst/>
          </a:prstGeom>
        </p:spPr>
      </p:pic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9016054F-29B0-4A14-91DF-2DFA564505B0}"/>
              </a:ext>
            </a:extLst>
          </p:cNvPr>
          <p:cNvSpPr/>
          <p:nvPr userDrawn="1"/>
        </p:nvSpPr>
        <p:spPr>
          <a:xfrm rot="16200000">
            <a:off x="13647006" y="1690688"/>
            <a:ext cx="24826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rgbClr val="E6E6E6"/>
                </a:solidFill>
                <a:hlinkClick r:id="rId1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presentation-creation.ru</a:t>
            </a:r>
            <a:endParaRPr lang="ru-RU" dirty="0">
              <a:solidFill>
                <a:srgbClr val="E6E6E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57446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1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e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jpeg"/><Relationship Id="rId4" Type="http://schemas.openxmlformats.org/officeDocument/2006/relationships/image" Target="../media/image16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jpeg"/><Relationship Id="rId4" Type="http://schemas.openxmlformats.org/officeDocument/2006/relationships/image" Target="../media/image20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jpe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Анадырь с высоты">
            <a:extLst>
              <a:ext uri="{FF2B5EF4-FFF2-40B4-BE49-F238E27FC236}">
                <a16:creationId xmlns:a16="http://schemas.microsoft.com/office/drawing/2014/main" id="{A3366CB0-3ED2-4489-81E7-6E95EC64CF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7748" y="-823620"/>
            <a:ext cx="12807495" cy="81022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DDBB8AB-C0C8-469C-84A4-DB06C3AA4A33}"/>
              </a:ext>
            </a:extLst>
          </p:cNvPr>
          <p:cNvSpPr txBox="1"/>
          <p:nvPr/>
        </p:nvSpPr>
        <p:spPr>
          <a:xfrm>
            <a:off x="131858" y="425623"/>
            <a:ext cx="90701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b="1" dirty="0">
                <a:solidFill>
                  <a:schemeClr val="bg1"/>
                </a:solidFill>
                <a:latin typeface="Georgia" panose="02040502050405020303" pitchFamily="18" charset="0"/>
              </a:rPr>
              <a:t>«Что такое Россия: город Анадырь»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38156A8-6DC3-4156-9F3B-2E1E8CD85F31}"/>
              </a:ext>
            </a:extLst>
          </p:cNvPr>
          <p:cNvSpPr txBox="1"/>
          <p:nvPr/>
        </p:nvSpPr>
        <p:spPr>
          <a:xfrm>
            <a:off x="8053955" y="5945257"/>
            <a:ext cx="398859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ru-RU" sz="2000" b="1" dirty="0">
                <a:solidFill>
                  <a:schemeClr val="bg1"/>
                </a:solidFill>
                <a:latin typeface="Georgia" panose="02040502050405020303" pitchFamily="18" charset="0"/>
              </a:rPr>
              <a:t>Выполнил Кочнев Максим </a:t>
            </a:r>
          </a:p>
          <a:p>
            <a:pPr algn="r"/>
            <a:r>
              <a:rPr lang="ru-RU" sz="2000" b="1" dirty="0">
                <a:solidFill>
                  <a:schemeClr val="bg1"/>
                </a:solidFill>
                <a:latin typeface="Georgia" panose="02040502050405020303" pitchFamily="18" charset="0"/>
              </a:rPr>
              <a:t>Гр. </a:t>
            </a:r>
            <a:r>
              <a:rPr lang="ru-RU" sz="2000" b="1" dirty="0">
                <a:solidFill>
                  <a:schemeClr val="bg1"/>
                </a:solidFill>
                <a:ea typeface="Gadugi" panose="020B0502040204020203" pitchFamily="34" charset="0"/>
              </a:rPr>
              <a:t>4627</a:t>
            </a:r>
          </a:p>
        </p:txBody>
      </p:sp>
    </p:spTree>
    <p:extLst>
      <p:ext uri="{BB962C8B-B14F-4D97-AF65-F5344CB8AC3E}">
        <p14:creationId xmlns:p14="http://schemas.microsoft.com/office/powerpoint/2010/main" val="4148378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>
            <a:extLst>
              <a:ext uri="{FF2B5EF4-FFF2-40B4-BE49-F238E27FC236}">
                <a16:creationId xmlns:a16="http://schemas.microsoft.com/office/drawing/2014/main" id="{11D663CC-AF9C-4A0E-A798-FC9720F75B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966" b="90562" l="1745" r="89933">
                        <a14:foregroundMark x1="10201" y1="24719" x2="4295" y2="26742"/>
                        <a14:foregroundMark x1="4295" y1="26742" x2="3087" y2="37303"/>
                        <a14:foregroundMark x1="3087" y1="37303" x2="4698" y2="50337"/>
                        <a14:foregroundMark x1="4698" y1="50337" x2="9530" y2="60449"/>
                        <a14:foregroundMark x1="9530" y1="60449" x2="10604" y2="61348"/>
                        <a14:foregroundMark x1="6309" y1="26292" x2="2282" y2="44045"/>
                        <a14:foregroundMark x1="2282" y1="44045" x2="5772" y2="55955"/>
                        <a14:foregroundMark x1="5772" y1="55955" x2="9262" y2="56629"/>
                        <a14:foregroundMark x1="3087" y1="30112" x2="1879" y2="42022"/>
                        <a14:foregroundMark x1="1879" y1="42022" x2="3221" y2="43596"/>
                        <a14:foregroundMark x1="2550" y1="32360" x2="8725" y2="26067"/>
                        <a14:foregroundMark x1="15839" y1="10787" x2="26443" y2="11236"/>
                        <a14:foregroundMark x1="26443" y1="11236" x2="28188" y2="13034"/>
                        <a14:foregroundMark x1="24966" y1="10787" x2="30201" y2="7191"/>
                        <a14:foregroundMark x1="30201" y1="7191" x2="34362" y2="10787"/>
                        <a14:foregroundMark x1="34631" y1="87416" x2="49396" y2="90562"/>
                        <a14:foregroundMark x1="49396" y1="90562" x2="55705" y2="87640"/>
                        <a14:foregroundMark x1="55705" y1="87640" x2="57450" y2="84270"/>
                        <a14:foregroundMark x1="35973" y1="89438" x2="43758" y2="88090"/>
                        <a14:foregroundMark x1="43758" y1="88090" x2="43758" y2="88090"/>
                        <a14:foregroundMark x1="64027" y1="57753" x2="66846" y2="65618"/>
                        <a14:foregroundMark x1="66846" y1="65618" x2="57718" y2="66966"/>
                        <a14:foregroundMark x1="57718" y1="66966" x2="57450" y2="67416"/>
                        <a14:foregroundMark x1="64295" y1="56629" x2="66711" y2="67416"/>
                        <a14:foregroundMark x1="66711" y1="67416" x2="67383" y2="67416"/>
                        <a14:foregroundMark x1="64161" y1="53483" x2="69799" y2="57303"/>
                        <a14:foregroundMark x1="69799" y1="57303" x2="69396" y2="67865"/>
                        <a14:foregroundMark x1="69396" y1="67865" x2="66040" y2="70787"/>
                        <a14:foregroundMark x1="69799" y1="57079" x2="68859" y2="69663"/>
                        <a14:foregroundMark x1="68859" y1="69663" x2="68993" y2="70112"/>
                      </a14:backgroundRemoval>
                    </a14:imgEffect>
                    <a14:imgEffect>
                      <a14:sharpenSoften amount="50000"/>
                    </a14:imgEffect>
                    <a14:imgEffect>
                      <a14:colorTemperature colorTemp="66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404" y="3180080"/>
            <a:ext cx="4250276" cy="2538755"/>
          </a:xfrm>
          <a:prstGeom prst="rect">
            <a:avLst/>
          </a:prstGeom>
          <a:noFill/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1454DE57-D95D-4E4A-9CBB-E1A8A2FADB2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b="35647"/>
          <a:stretch/>
        </p:blipFill>
        <p:spPr bwMode="auto">
          <a:xfrm>
            <a:off x="435264" y="457204"/>
            <a:ext cx="5223856" cy="2939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Прямая со стрелкой 11">
            <a:extLst>
              <a:ext uri="{FF2B5EF4-FFF2-40B4-BE49-F238E27FC236}">
                <a16:creationId xmlns:a16="http://schemas.microsoft.com/office/drawing/2014/main" id="{FDBF3F89-A372-43D3-AC21-3C5FDC2A0E8B}"/>
              </a:ext>
            </a:extLst>
          </p:cNvPr>
          <p:cNvCxnSpPr>
            <a:cxnSpLocks/>
          </p:cNvCxnSpPr>
          <p:nvPr/>
        </p:nvCxnSpPr>
        <p:spPr>
          <a:xfrm flipH="1">
            <a:off x="4247186" y="1534160"/>
            <a:ext cx="797407" cy="220472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532FD6A0-3BA7-4A1A-B090-ACE8F1293C6C}"/>
              </a:ext>
            </a:extLst>
          </p:cNvPr>
          <p:cNvSpPr txBox="1"/>
          <p:nvPr/>
        </p:nvSpPr>
        <p:spPr>
          <a:xfrm>
            <a:off x="1571006" y="5608104"/>
            <a:ext cx="40881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>
                <a:latin typeface="Georgia" panose="02040502050405020303" pitchFamily="18" charset="0"/>
              </a:rPr>
              <a:t>Чукотка – самый дальневосточный регион России</a:t>
            </a:r>
          </a:p>
        </p:txBody>
      </p:sp>
      <p:pic>
        <p:nvPicPr>
          <p:cNvPr id="2054" name="Picture 6" descr="Анадырь, Чукотский автономный округ, Россия - Описание, путеводитель, туры,  авиабилеты, достопримечательности, отели, климат, фото, карта, погода">
            <a:extLst>
              <a:ext uri="{FF2B5EF4-FFF2-40B4-BE49-F238E27FC236}">
                <a16:creationId xmlns:a16="http://schemas.microsoft.com/office/drawing/2014/main" id="{AF472261-C152-4009-BB70-3EED89BB658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162" r="27547" b="11382"/>
          <a:stretch/>
        </p:blipFill>
        <p:spPr bwMode="auto">
          <a:xfrm>
            <a:off x="6090571" y="985520"/>
            <a:ext cx="5608015" cy="4389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3" name="Прямая соединительная линия 22">
            <a:extLst>
              <a:ext uri="{FF2B5EF4-FFF2-40B4-BE49-F238E27FC236}">
                <a16:creationId xmlns:a16="http://schemas.microsoft.com/office/drawing/2014/main" id="{4B41DA14-06FB-409A-A1E6-F9C1B1EA3C46}"/>
              </a:ext>
            </a:extLst>
          </p:cNvPr>
          <p:cNvCxnSpPr>
            <a:cxnSpLocks/>
          </p:cNvCxnSpPr>
          <p:nvPr/>
        </p:nvCxnSpPr>
        <p:spPr>
          <a:xfrm>
            <a:off x="9087772" y="3286597"/>
            <a:ext cx="767428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6FF2360F-2F3D-4BD5-9157-25D828B74DF6}"/>
              </a:ext>
            </a:extLst>
          </p:cNvPr>
          <p:cNvSpPr txBox="1"/>
          <p:nvPr/>
        </p:nvSpPr>
        <p:spPr>
          <a:xfrm>
            <a:off x="6850522" y="5608104"/>
            <a:ext cx="408811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>
                <a:latin typeface="Georgia" panose="02040502050405020303" pitchFamily="18" charset="0"/>
              </a:rPr>
              <a:t>Город Анадырь располагается у берега р. Казачки, которая втекает в Берингово море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3E1620C-CD25-439F-A378-60FB3BBDC271}"/>
              </a:ext>
            </a:extLst>
          </p:cNvPr>
          <p:cNvSpPr txBox="1"/>
          <p:nvPr/>
        </p:nvSpPr>
        <p:spPr>
          <a:xfrm>
            <a:off x="0" y="0"/>
            <a:ext cx="99618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Где находится Анадырь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19990617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030DB1C-5A51-48F8-91BE-2272376486B0}"/>
              </a:ext>
            </a:extLst>
          </p:cNvPr>
          <p:cNvSpPr txBox="1"/>
          <p:nvPr/>
        </p:nvSpPr>
        <p:spPr>
          <a:xfrm>
            <a:off x="0" y="0"/>
            <a:ext cx="99618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Что есть в городе</a:t>
            </a:r>
            <a:endParaRPr lang="ru-RU" sz="3200" dirty="0"/>
          </a:p>
        </p:txBody>
      </p:sp>
      <p:pic>
        <p:nvPicPr>
          <p:cNvPr id="2050" name="Picture 2" descr="Аппарат Губернатора и Правительства Чукотского автономного округа">
            <a:extLst>
              <a:ext uri="{FF2B5EF4-FFF2-40B4-BE49-F238E27FC236}">
                <a16:creationId xmlns:a16="http://schemas.microsoft.com/office/drawing/2014/main" id="{7F15BAC2-C294-4464-B967-5AB58C62478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661"/>
          <a:stretch/>
        </p:blipFill>
        <p:spPr bwMode="auto">
          <a:xfrm>
            <a:off x="0" y="1137920"/>
            <a:ext cx="3867000" cy="2329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093F585-42C4-4626-9868-643969F2955F}"/>
              </a:ext>
            </a:extLst>
          </p:cNvPr>
          <p:cNvSpPr txBox="1"/>
          <p:nvPr/>
        </p:nvSpPr>
        <p:spPr>
          <a:xfrm>
            <a:off x="222395" y="3578989"/>
            <a:ext cx="3330517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000" dirty="0">
                <a:latin typeface="Georgia" panose="02040502050405020303" pitchFamily="18" charset="0"/>
              </a:rPr>
              <a:t>Скромное здание аппарата Губернатора и Правительства Чукотского автономного</a:t>
            </a:r>
          </a:p>
        </p:txBody>
      </p:sp>
      <p:pic>
        <p:nvPicPr>
          <p:cNvPr id="2054" name="Picture 6" descr="Чукотская окружная больница, больница для взрослых, ул. Ленина, 1, Анадырь — Яндекс Карты">
            <a:extLst>
              <a:ext uri="{FF2B5EF4-FFF2-40B4-BE49-F238E27FC236}">
                <a16:creationId xmlns:a16="http://schemas.microsoft.com/office/drawing/2014/main" id="{A0AE3BC7-A048-4DF3-92B3-3F5E272C929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38" r="4326"/>
          <a:stretch/>
        </p:blipFill>
        <p:spPr bwMode="auto">
          <a:xfrm>
            <a:off x="3991827" y="1705788"/>
            <a:ext cx="4208345" cy="2534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D2F9A75-C557-4969-94F4-313EE148A37A}"/>
              </a:ext>
            </a:extLst>
          </p:cNvPr>
          <p:cNvSpPr txBox="1"/>
          <p:nvPr/>
        </p:nvSpPr>
        <p:spPr>
          <a:xfrm>
            <a:off x="3308349" y="4326275"/>
            <a:ext cx="5330741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000" dirty="0">
                <a:latin typeface="Georgia" panose="02040502050405020303" pitchFamily="18" charset="0"/>
              </a:rPr>
              <a:t>Чукотская окружная больница Анадырь.         </a:t>
            </a:r>
            <a:r>
              <a:rPr lang="ru-RU" sz="2000" b="1" dirty="0">
                <a:latin typeface="Georgia" panose="02040502050405020303" pitchFamily="18" charset="0"/>
              </a:rPr>
              <a:t>Обслуживает все население Чукотского автономного округа</a:t>
            </a:r>
            <a:r>
              <a:rPr lang="ru-RU" sz="2000" dirty="0">
                <a:latin typeface="Georgia" panose="02040502050405020303" pitchFamily="18" charset="0"/>
              </a:rPr>
              <a:t> (около 48–50 тысяч человек), поскольку является главным многопрофильным и </a:t>
            </a:r>
            <a:r>
              <a:rPr lang="ru-RU" sz="2000" b="1" dirty="0">
                <a:latin typeface="Georgia" panose="02040502050405020303" pitchFamily="18" charset="0"/>
              </a:rPr>
              <a:t>продвинутым</a:t>
            </a:r>
            <a:r>
              <a:rPr lang="ru-RU" sz="2000" dirty="0">
                <a:latin typeface="Georgia" panose="02040502050405020303" pitchFamily="18" charset="0"/>
              </a:rPr>
              <a:t> медицинским центром региона</a:t>
            </a:r>
          </a:p>
        </p:txBody>
      </p:sp>
      <p:pic>
        <p:nvPicPr>
          <p:cNvPr id="2056" name="Picture 8" descr="Отзывы о «Чукотский окружной профильный лицей», Чукотский автономный округ, Анадырь, улица Беринга, 7 — Яндекс Карты">
            <a:extLst>
              <a:ext uri="{FF2B5EF4-FFF2-40B4-BE49-F238E27FC236}">
                <a16:creationId xmlns:a16="http://schemas.microsoft.com/office/drawing/2014/main" id="{C773131D-1362-4C21-89CB-7CCFE3DCC4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24999" y="998632"/>
            <a:ext cx="3867000" cy="25803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04B941C-ED3A-40EA-89B0-16B135D7EDDF}"/>
              </a:ext>
            </a:extLst>
          </p:cNvPr>
          <p:cNvSpPr txBox="1"/>
          <p:nvPr/>
        </p:nvSpPr>
        <p:spPr>
          <a:xfrm>
            <a:off x="8593240" y="3634042"/>
            <a:ext cx="3330517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000" dirty="0">
                <a:latin typeface="Georgia" panose="02040502050405020303" pitchFamily="18" charset="0"/>
              </a:rPr>
              <a:t>Чукотский профильный лицей с напрямую прикрепленным корпусом общежития</a:t>
            </a:r>
          </a:p>
        </p:txBody>
      </p:sp>
    </p:spTree>
    <p:extLst>
      <p:ext uri="{BB962C8B-B14F-4D97-AF65-F5344CB8AC3E}">
        <p14:creationId xmlns:p14="http://schemas.microsoft.com/office/powerpoint/2010/main" val="258262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D1065FC-CCAF-4744-98C4-9FAE93D18F5B}"/>
              </a:ext>
            </a:extLst>
          </p:cNvPr>
          <p:cNvSpPr txBox="1"/>
          <p:nvPr/>
        </p:nvSpPr>
        <p:spPr>
          <a:xfrm>
            <a:off x="0" y="0"/>
            <a:ext cx="99618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b="1" dirty="0"/>
              <a:t>Климат и сильные ветры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9173C43-EF8F-418D-A694-F86D37F528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7840" y="979311"/>
            <a:ext cx="5273040" cy="33855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Температура:                                 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        Зима продолжительная (январь </a:t>
            </a: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~ </a:t>
            </a: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−22 </a:t>
            </a: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°C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), лето прохладное (июль </a:t>
            </a: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~ </a:t>
            </a: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+11 </a:t>
            </a: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°C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eorgia" panose="02040502050405020303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Экстремальный ветер:          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         Порывы при циклонах достигают               </a:t>
            </a: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35–40</a:t>
            </a: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м/с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eorgia" panose="02040502050405020303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Опасные метели:                     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         Шторм блокирует видимость, парализует транспорт и </a:t>
            </a: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отменяет уроки в школах. </a:t>
            </a:r>
          </a:p>
        </p:txBody>
      </p:sp>
      <p:pic>
        <p:nvPicPr>
          <p:cNvPr id="7173" name="Picture 5" descr="Пурга на Чукотке. Интересные факты, видео и фото заснеженного Анадыря |  Пикабу">
            <a:extLst>
              <a:ext uri="{FF2B5EF4-FFF2-40B4-BE49-F238E27FC236}">
                <a16:creationId xmlns:a16="http://schemas.microsoft.com/office/drawing/2014/main" id="{1BE043D1-0D9F-433D-9586-65130F457B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0880" y="79494"/>
            <a:ext cx="3628707" cy="2691902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5" name="Picture 7" descr="Сильнейшая пурга в Анадыре нарушила привычный ритм города">
            <a:extLst>
              <a:ext uri="{FF2B5EF4-FFF2-40B4-BE49-F238E27FC236}">
                <a16:creationId xmlns:a16="http://schemas.microsoft.com/office/drawing/2014/main" id="{A2E06720-1BB8-41B7-9398-CFDA96E2CC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41727" y="2173436"/>
            <a:ext cx="3362325" cy="2857500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7" name="Picture 9" descr="Пурга на Чукотке. Интересные факты, видео и фото заснеженного Анадыря |  Пикабу">
            <a:extLst>
              <a:ext uri="{FF2B5EF4-FFF2-40B4-BE49-F238E27FC236}">
                <a16:creationId xmlns:a16="http://schemas.microsoft.com/office/drawing/2014/main" id="{39C5EBF0-09F5-4AAF-9DD6-91A036A10B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9760" y="4286186"/>
            <a:ext cx="3362325" cy="2492320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29B1413-6F27-4D83-A12A-22D05B9A55B6}"/>
              </a:ext>
            </a:extLst>
          </p:cNvPr>
          <p:cNvSpPr txBox="1"/>
          <p:nvPr/>
        </p:nvSpPr>
        <p:spPr>
          <a:xfrm>
            <a:off x="1028700" y="5325008"/>
            <a:ext cx="99618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altLang="ru-RU" sz="3600" b="1" dirty="0">
                <a:solidFill>
                  <a:srgbClr val="FF0000"/>
                </a:solidFill>
              </a:rPr>
              <a:t>Ветер </a:t>
            </a:r>
            <a:r>
              <a:rPr kumimoji="0" lang="ru-RU" altLang="ru-RU" sz="3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</a:rPr>
              <a:t>35–40</a:t>
            </a:r>
            <a:r>
              <a:rPr kumimoji="0" lang="ru-RU" altLang="ru-RU" sz="3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Georgia" panose="02040502050405020303" pitchFamily="18" charset="0"/>
              </a:rPr>
              <a:t> м/с</a:t>
            </a:r>
            <a:endParaRPr lang="ru-RU" sz="3600" dirty="0">
              <a:solidFill>
                <a:srgbClr val="FF0000"/>
              </a:solidFill>
            </a:endParaRPr>
          </a:p>
        </p:txBody>
      </p:sp>
      <p:cxnSp>
        <p:nvCxnSpPr>
          <p:cNvPr id="10" name="Прямая со стрелкой 9">
            <a:extLst>
              <a:ext uri="{FF2B5EF4-FFF2-40B4-BE49-F238E27FC236}">
                <a16:creationId xmlns:a16="http://schemas.microsoft.com/office/drawing/2014/main" id="{85D9BECF-328A-4C1B-93EB-9E9F5A674205}"/>
              </a:ext>
            </a:extLst>
          </p:cNvPr>
          <p:cNvCxnSpPr>
            <a:cxnSpLocks/>
          </p:cNvCxnSpPr>
          <p:nvPr/>
        </p:nvCxnSpPr>
        <p:spPr>
          <a:xfrm flipH="1">
            <a:off x="1615440" y="5305256"/>
            <a:ext cx="2321560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67988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8B76834-F696-4C2A-B610-322221A32103}"/>
              </a:ext>
            </a:extLst>
          </p:cNvPr>
          <p:cNvSpPr txBox="1"/>
          <p:nvPr/>
        </p:nvSpPr>
        <p:spPr>
          <a:xfrm>
            <a:off x="0" y="0"/>
            <a:ext cx="996192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b="1" dirty="0">
                <a:effectLst/>
                <a:ea typeface="Times New Roman" panose="02020603050405020304" pitchFamily="18" charset="0"/>
              </a:rPr>
              <a:t>Переправа через лиман</a:t>
            </a:r>
            <a:endParaRPr lang="ru-RU" sz="3200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77E893A8-1867-4425-A47C-380DCD68BA41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436880" y="994150"/>
            <a:ext cx="3992880" cy="5642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203136" rIns="0" bIns="20313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sz="2000" dirty="0">
                <a:latin typeface="Georgia" panose="02040502050405020303" pitchFamily="18" charset="0"/>
              </a:rPr>
              <a:t>	А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эропорт отделен от города </a:t>
            </a: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широким лиманом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, который необходимо пересечь. Летом переправа осуществляется на </a:t>
            </a:r>
            <a:r>
              <a:rPr kumimoji="0" lang="ru-RU" altLang="ru-RU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небольших </a:t>
            </a: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кораблях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или </a:t>
            </a: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вертолётах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. Зимой на прочном замерзшем льду открывают официальную </a:t>
            </a: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ледовую трассу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для проходимых машин.               В опасное межсезонье, когда лёд только встаёт или начинает таять, единственным транспортом остаются специфические </a:t>
            </a: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суда на воздушной подушке (</a:t>
            </a:r>
            <a:r>
              <a:rPr kumimoji="0" lang="ru-RU" altLang="ru-RU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аэроглейсеры</a:t>
            </a: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)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eorgia" panose="02040502050405020303" pitchFamily="18" charset="0"/>
            </a:endParaRPr>
          </a:p>
        </p:txBody>
      </p:sp>
      <p:pic>
        <p:nvPicPr>
          <p:cNvPr id="4100" name="Picture 4" descr="Открылись еще 2 ледовые переправы через Анадырский лиман | 11.02.2021 | Анадырь - БезФормата">
            <a:extLst>
              <a:ext uri="{FF2B5EF4-FFF2-40B4-BE49-F238E27FC236}">
                <a16:creationId xmlns:a16="http://schemas.microsoft.com/office/drawing/2014/main" id="{35F82BCA-A4F4-441C-BBB4-6D642BC4B2A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23083" r="38222" b="50583"/>
          <a:stretch/>
        </p:blipFill>
        <p:spPr bwMode="auto">
          <a:xfrm>
            <a:off x="9054201" y="375297"/>
            <a:ext cx="2924440" cy="22761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Анадырь - Онлайн - Ледовую переправу через Анадырский лиман официально">
            <a:extLst>
              <a:ext uri="{FF2B5EF4-FFF2-40B4-BE49-F238E27FC236}">
                <a16:creationId xmlns:a16="http://schemas.microsoft.com/office/drawing/2014/main" id="{98A89B6A-D0F9-41A4-A041-DEB65C3E7E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0706" y="375297"/>
            <a:ext cx="4318000" cy="22818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1">
            <a:extLst>
              <a:ext uri="{FF2B5EF4-FFF2-40B4-BE49-F238E27FC236}">
                <a16:creationId xmlns:a16="http://schemas.microsoft.com/office/drawing/2014/main" id="{A3FE7C4B-B870-4FD0-AA77-A9B99056CA9E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4980963" y="2531802"/>
            <a:ext cx="7061200" cy="7180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203136" rIns="0" bIns="20313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«Федеральная ледовая переправа Анадырь – Аэропорт»</a:t>
            </a:r>
          </a:p>
        </p:txBody>
      </p:sp>
      <p:pic>
        <p:nvPicPr>
          <p:cNvPr id="4104" name="Picture 8" descr="Трансферная импотенция чукотского губернатора: basov_chukotka — LiveJournal">
            <a:extLst>
              <a:ext uri="{FF2B5EF4-FFF2-40B4-BE49-F238E27FC236}">
                <a16:creationId xmlns:a16="http://schemas.microsoft.com/office/drawing/2014/main" id="{D3C4AA84-833B-496A-AE65-AB2F5F09D8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0233" y="3747799"/>
            <a:ext cx="3337123" cy="22258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6" name="Picture 10" descr="Морпорт Анадыря купил аэроглиссеры для перевозок пассажиров через лиман">
            <a:extLst>
              <a:ext uri="{FF2B5EF4-FFF2-40B4-BE49-F238E27FC236}">
                <a16:creationId xmlns:a16="http://schemas.microsoft.com/office/drawing/2014/main" id="{5F93D8AD-633F-45BE-AA52-1E1235E13F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7829" y="3882939"/>
            <a:ext cx="4087396" cy="20907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1">
            <a:extLst>
              <a:ext uri="{FF2B5EF4-FFF2-40B4-BE49-F238E27FC236}">
                <a16:creationId xmlns:a16="http://schemas.microsoft.com/office/drawing/2014/main" id="{F5A3F08A-10E3-412C-A325-72C9568D3CB0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4348890" y="5820191"/>
            <a:ext cx="3494219" cy="10257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203136" rIns="0" bIns="20313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sz="2000" dirty="0">
                <a:latin typeface="Georgia" panose="02040502050405020303" pitchFamily="18" charset="0"/>
              </a:rPr>
              <a:t>Пассажирский и грузовой вертолёт «ЧукотАВИА»</a:t>
            </a:r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eorgia" panose="02040502050405020303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A928EA9-493A-42A7-B824-038FFE4E7332}"/>
              </a:ext>
            </a:extLst>
          </p:cNvPr>
          <p:cNvSpPr txBox="1"/>
          <p:nvPr/>
        </p:nvSpPr>
        <p:spPr>
          <a:xfrm>
            <a:off x="8212057" y="5936719"/>
            <a:ext cx="363894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 err="1">
                <a:latin typeface="Georgia" panose="02040502050405020303" pitchFamily="18" charset="0"/>
              </a:rPr>
              <a:t>А</a:t>
            </a:r>
            <a:r>
              <a:rPr lang="ru-RU" sz="2000" b="0" i="0" dirty="0" err="1">
                <a:effectLst/>
                <a:latin typeface="Georgia" panose="02040502050405020303" pitchFamily="18" charset="0"/>
              </a:rPr>
              <a:t>эроглиссеры</a:t>
            </a:r>
            <a:r>
              <a:rPr lang="ru-RU" sz="2000" b="0" i="0" dirty="0">
                <a:effectLst/>
                <a:latin typeface="Georgia" panose="02040502050405020303" pitchFamily="18" charset="0"/>
              </a:rPr>
              <a:t> для перевозок пассажиров через лиман</a:t>
            </a:r>
            <a:r>
              <a:rPr lang="ru-RU" sz="2000" i="1" dirty="0">
                <a:latin typeface="Georgia" panose="02040502050405020303" pitchFamily="18" charset="0"/>
              </a:rPr>
              <a:t>.</a:t>
            </a:r>
            <a:endParaRPr lang="ru-RU" sz="2000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07021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022F3F35-1956-4079-B5AF-1490E0D45DE5}"/>
              </a:ext>
            </a:extLst>
          </p:cNvPr>
          <p:cNvSpPr txBox="1"/>
          <p:nvPr/>
        </p:nvSpPr>
        <p:spPr>
          <a:xfrm>
            <a:off x="0" y="0"/>
            <a:ext cx="99618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b="1" dirty="0">
                <a:effectLst/>
                <a:ea typeface="Times New Roman" panose="02020603050405020304" pitchFamily="18" charset="0"/>
              </a:rPr>
              <a:t>Как живут люди</a:t>
            </a:r>
            <a:endParaRPr lang="ru-RU" sz="32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113E2EE-43C6-4FD0-B27A-11DFC37AAA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00720" y="1069444"/>
            <a:ext cx="3972560" cy="47191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203136" rIns="0" bIns="20313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Обычный тихий город: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работают спортивные клубы, кафе и рестораны.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</a:b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Торговые сети: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привычных «Пятёрочки» и «Магнита» в городе нет, а «Красное и Белое» закрылось через год работы.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</a:b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Культурный отдых: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для жителей уже как 48 лет открыт кинотеатр «Полярный»</a:t>
            </a:r>
            <a:b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</a:br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eorgia" panose="02040502050405020303" pitchFamily="18" charset="0"/>
            </a:endParaRPr>
          </a:p>
        </p:txBody>
      </p:sp>
      <p:pic>
        <p:nvPicPr>
          <p:cNvPr id="13316" name="Picture 4" descr="Услуги кинотеатра Полярный">
            <a:extLst>
              <a:ext uri="{FF2B5EF4-FFF2-40B4-BE49-F238E27FC236}">
                <a16:creationId xmlns:a16="http://schemas.microsoft.com/office/drawing/2014/main" id="{96151198-9817-48BB-B0F4-25FE0170E0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0315" y="4049083"/>
            <a:ext cx="3439487" cy="22786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18" name="Picture 6" descr="Кинотеатр &quot;Полярный&quot; в Анадыре заменил экран и проектор">
            <a:extLst>
              <a:ext uri="{FF2B5EF4-FFF2-40B4-BE49-F238E27FC236}">
                <a16:creationId xmlns:a16="http://schemas.microsoft.com/office/drawing/2014/main" id="{8B049E58-4CA2-423E-B45E-911697DD25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8106" y="4049082"/>
            <a:ext cx="3038215" cy="22786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20" name="Picture 8" descr="Больше не работает: Красное&amp;Белое, магазин продуктов, Чукотский автономный  округ, Анадырь, улица Отке, 41 — Яндекс Карты">
            <a:extLst>
              <a:ext uri="{FF2B5EF4-FFF2-40B4-BE49-F238E27FC236}">
                <a16:creationId xmlns:a16="http://schemas.microsoft.com/office/drawing/2014/main" id="{1E105A88-1FE0-4513-A81E-D86468346D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1086" y="753534"/>
            <a:ext cx="2418716" cy="32249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22" name="Picture 10" descr="Больше не работает: Красное&amp;Белое, магазин продуктов, Чукотский автономный  округ, Анадырь, улица Отке, 41 — Яндекс Карты">
            <a:extLst>
              <a:ext uri="{FF2B5EF4-FFF2-40B4-BE49-F238E27FC236}">
                <a16:creationId xmlns:a16="http://schemas.microsoft.com/office/drawing/2014/main" id="{6AFAC9CA-AF2A-4BC2-B654-30173B96F7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7551" y="753534"/>
            <a:ext cx="2418716" cy="32249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B2E0B245-E7EC-4264-B51B-98C32F797970}"/>
              </a:ext>
            </a:extLst>
          </p:cNvPr>
          <p:cNvSpPr txBox="1"/>
          <p:nvPr/>
        </p:nvSpPr>
        <p:spPr>
          <a:xfrm>
            <a:off x="238668" y="1396515"/>
            <a:ext cx="2778545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000" dirty="0">
                <a:latin typeface="Georgia" panose="02040502050405020303" pitchFamily="18" charset="0"/>
              </a:rPr>
              <a:t>Полностью заполненные товарами полки магазина </a:t>
            </a:r>
            <a:r>
              <a:rPr lang="ru-RU" sz="2000" b="1" dirty="0">
                <a:latin typeface="Georgia" panose="02040502050405020303" pitchFamily="18" charset="0"/>
              </a:rPr>
              <a:t>«Красное и Белое» </a:t>
            </a:r>
            <a:r>
              <a:rPr lang="ru-RU" sz="2000" dirty="0">
                <a:latin typeface="Georgia" panose="02040502050405020303" pitchFamily="18" charset="0"/>
              </a:rPr>
              <a:t>в Анадыре.</a:t>
            </a:r>
          </a:p>
          <a:p>
            <a:pPr algn="ctr"/>
            <a:r>
              <a:rPr lang="ru-RU" sz="2000" dirty="0">
                <a:latin typeface="Georgia" panose="02040502050405020303" pitchFamily="18" charset="0"/>
              </a:rPr>
              <a:t>(за год до закрытия)</a:t>
            </a:r>
          </a:p>
        </p:txBody>
      </p:sp>
      <p:sp>
        <p:nvSpPr>
          <p:cNvPr id="8" name="Rectangle 11">
            <a:extLst>
              <a:ext uri="{FF2B5EF4-FFF2-40B4-BE49-F238E27FC236}">
                <a16:creationId xmlns:a16="http://schemas.microsoft.com/office/drawing/2014/main" id="{E3A22AE8-1CDC-473E-A7C8-991C1507D9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60198" y="6129290"/>
            <a:ext cx="12379207" cy="10257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203136" rIns="0" bIns="20313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i="0" u="none" strike="noStrike" cap="none" normalizeH="0" baseline="0" dirty="0">
                <a:ln>
                  <a:noFill/>
                </a:ln>
                <a:effectLst/>
                <a:latin typeface="Georgia" panose="02040502050405020303" pitchFamily="18" charset="0"/>
              </a:rPr>
              <a:t>Внешний вид здания кинотеатра «Полярный».</a:t>
            </a:r>
            <a:br>
              <a:rPr kumimoji="0" lang="ru-RU" altLang="ru-RU" sz="2000" i="0" u="none" strike="noStrike" cap="none" normalizeH="0" baseline="0" dirty="0">
                <a:ln>
                  <a:noFill/>
                </a:ln>
                <a:effectLst/>
                <a:latin typeface="Georgia" panose="02040502050405020303" pitchFamily="18" charset="0"/>
              </a:rPr>
            </a:br>
            <a:endParaRPr kumimoji="0" lang="ru-RU" altLang="ru-RU" sz="2000" i="0" u="none" strike="noStrike" cap="none" normalizeH="0" baseline="0" dirty="0">
              <a:ln>
                <a:noFill/>
              </a:ln>
              <a:effectLst/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5541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986C70E-C8EF-4CEE-B7D5-CDF941A675CA}"/>
              </a:ext>
            </a:extLst>
          </p:cNvPr>
          <p:cNvSpPr txBox="1"/>
          <p:nvPr/>
        </p:nvSpPr>
        <p:spPr>
          <a:xfrm>
            <a:off x="0" y="0"/>
            <a:ext cx="99618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b="1" dirty="0">
                <a:effectLst/>
                <a:ea typeface="Times New Roman" panose="02020603050405020304" pitchFamily="18" charset="0"/>
              </a:rPr>
              <a:t>Немного о культуре Чукотки</a:t>
            </a:r>
            <a:endParaRPr lang="ru-RU" sz="32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AE188E5-A91D-41E2-8332-E4F26AA2E3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" y="1890117"/>
            <a:ext cx="4074160" cy="30777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Музейный центр</a:t>
            </a:r>
            <a:r>
              <a:rPr lang="en-US" altLang="ru-RU" sz="2000" b="1" dirty="0">
                <a:latin typeface="Georgia" panose="02040502050405020303" pitchFamily="18" charset="0"/>
              </a:rPr>
              <a:t>:</a:t>
            </a:r>
            <a:endParaRPr kumimoji="0" lang="ru-RU" altLang="ru-RU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eorgia" panose="02040502050405020303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главный музей города и всего округа, где собраны уникальные предметы быта и традиционная одежда коренных народов.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Орудия промысла: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в залах представлены редкие исторические экспонаты для охоты, рыболовства и оленеводства.</a:t>
            </a:r>
          </a:p>
        </p:txBody>
      </p:sp>
      <p:pic>
        <p:nvPicPr>
          <p:cNvPr id="7171" name="Picture 3" descr="Наследие Чукотки, музей, ул. Ленина, 23, Анадырь — Яндекс Карты">
            <a:extLst>
              <a:ext uri="{FF2B5EF4-FFF2-40B4-BE49-F238E27FC236}">
                <a16:creationId xmlns:a16="http://schemas.microsoft.com/office/drawing/2014/main" id="{D31A144F-A503-439F-B3AD-7A6FD8FFE2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8481" y="49466"/>
            <a:ext cx="3235712" cy="2158195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3" name="Picture 5" descr="Дикая Чукотка: острова, бухты и местная фауна - Веселый Ветер">
            <a:extLst>
              <a:ext uri="{FF2B5EF4-FFF2-40B4-BE49-F238E27FC236}">
                <a16:creationId xmlns:a16="http://schemas.microsoft.com/office/drawing/2014/main" id="{DCD598A6-F1EF-45AB-91EF-2758A21623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4193" y="1718122"/>
            <a:ext cx="3732176" cy="2488117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5" name="Picture 7" descr="Два полюса Земли - Статьи и репортажи РГО">
            <a:extLst>
              <a:ext uri="{FF2B5EF4-FFF2-40B4-BE49-F238E27FC236}">
                <a16:creationId xmlns:a16="http://schemas.microsoft.com/office/drawing/2014/main" id="{831A5BB8-9830-4828-8842-5647C676B6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2643" y="4013431"/>
            <a:ext cx="4151550" cy="2333625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ACEC7E3-0B96-4983-BB97-880036CC7237}"/>
              </a:ext>
            </a:extLst>
          </p:cNvPr>
          <p:cNvSpPr txBox="1"/>
          <p:nvPr/>
        </p:nvSpPr>
        <p:spPr>
          <a:xfrm>
            <a:off x="5111918" y="2257127"/>
            <a:ext cx="323571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u="none" strike="noStrike" dirty="0">
                <a:effectLst/>
                <a:latin typeface="Georgia" panose="02040502050405020303" pitchFamily="18" charset="0"/>
              </a:rPr>
              <a:t>Здание музейного центра</a:t>
            </a:r>
            <a:r>
              <a:rPr lang="ru-RU" sz="2000" dirty="0">
                <a:latin typeface="Georgia" panose="02040502050405020303" pitchFamily="18" charset="0"/>
              </a:rPr>
              <a:t> </a:t>
            </a:r>
            <a:r>
              <a:rPr lang="ru-RU" sz="2000" b="1" dirty="0">
                <a:latin typeface="Georgia" panose="02040502050405020303" pitchFamily="18" charset="0"/>
              </a:rPr>
              <a:t>«Наследие Чукотки» </a:t>
            </a:r>
            <a:r>
              <a:rPr lang="ru-RU" sz="2000" dirty="0">
                <a:latin typeface="Georgia" panose="02040502050405020303" pitchFamily="18" charset="0"/>
              </a:rPr>
              <a:t>в Анадыре.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C3506C5-9024-483F-B064-1C3109A20F48}"/>
              </a:ext>
            </a:extLst>
          </p:cNvPr>
          <p:cNvSpPr txBox="1"/>
          <p:nvPr/>
        </p:nvSpPr>
        <p:spPr>
          <a:xfrm>
            <a:off x="8908670" y="4265357"/>
            <a:ext cx="2913887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b="1" u="none" strike="noStrike" dirty="0">
                <a:effectLst/>
                <a:latin typeface="Georgia" panose="02040502050405020303" pitchFamily="18" charset="0"/>
              </a:rPr>
              <a:t>Традиционная меховая одежда и жилища (яранги)</a:t>
            </a:r>
            <a:r>
              <a:rPr lang="ru-RU" sz="2000" dirty="0">
                <a:latin typeface="Georgia" panose="02040502050405020303" pitchFamily="18" charset="0"/>
              </a:rPr>
              <a:t> коренных жителей округа.</a:t>
            </a: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81E50049-1C96-4405-BB66-085329BB7E92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2722120" y="5973310"/>
            <a:ext cx="12373100" cy="13335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203136" rIns="0" bIns="20313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eorgia" panose="02040502050405020303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Экспонаты музея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, связанные с морским охотничьим промыслом.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9878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B94A124-2F45-4377-A470-B4628CB5AA95}"/>
              </a:ext>
            </a:extLst>
          </p:cNvPr>
          <p:cNvSpPr txBox="1"/>
          <p:nvPr/>
        </p:nvSpPr>
        <p:spPr>
          <a:xfrm>
            <a:off x="0" y="0"/>
            <a:ext cx="99618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b="1" dirty="0"/>
              <a:t>Социокультурный код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CE6176-29D4-4F09-BB28-A0E52372BD30}"/>
              </a:ext>
            </a:extLst>
          </p:cNvPr>
          <p:cNvSpPr txBox="1"/>
          <p:nvPr/>
        </p:nvSpPr>
        <p:spPr>
          <a:xfrm>
            <a:off x="52825" y="584775"/>
            <a:ext cx="4448057" cy="624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/>
            <a:r>
              <a:rPr lang="ru-RU" sz="2000" b="1" dirty="0">
                <a:latin typeface="Georgia" panose="02040502050405020303" pitchFamily="18" charset="0"/>
              </a:rPr>
              <a:t>Коренные народы:</a:t>
            </a:r>
          </a:p>
          <a:p>
            <a:pPr rtl="0"/>
            <a:r>
              <a:rPr lang="ru-RU" sz="2000" dirty="0">
                <a:latin typeface="Georgia" panose="02040502050405020303" pitchFamily="18" charset="0"/>
              </a:rPr>
              <a:t> чукчи, чуванцы, эскимосы, эвены, юкагиры.</a:t>
            </a:r>
          </a:p>
          <a:p>
            <a:pPr rtl="0"/>
            <a:endParaRPr lang="ru-RU" sz="2000" dirty="0">
              <a:latin typeface="Georgia" panose="02040502050405020303" pitchFamily="18" charset="0"/>
            </a:endParaRPr>
          </a:p>
          <a:p>
            <a:pPr rtl="0"/>
            <a:endParaRPr lang="ru-RU" sz="2000" dirty="0">
              <a:latin typeface="Georgia" panose="02040502050405020303" pitchFamily="18" charset="0"/>
            </a:endParaRPr>
          </a:p>
          <a:p>
            <a:pPr rtl="0">
              <a:buFont typeface="Arial" panose="020B0604020202020204" pitchFamily="34" charset="0"/>
              <a:buChar char="•"/>
            </a:pPr>
            <a:r>
              <a:rPr lang="ru-RU" sz="2000" b="1" dirty="0">
                <a:latin typeface="Georgia" panose="02040502050405020303" pitchFamily="18" charset="0"/>
              </a:rPr>
              <a:t>Оленеводство.</a:t>
            </a:r>
          </a:p>
          <a:p>
            <a:pPr rtl="0"/>
            <a:r>
              <a:rPr lang="ru-RU" sz="2000" dirty="0">
                <a:latin typeface="Georgia" panose="02040502050405020303" pitchFamily="18" charset="0"/>
              </a:rPr>
              <a:t>Анадырь управляет оленеводческими бригадами по всей Чукотке.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ru-RU" sz="2000" b="1" dirty="0">
                <a:latin typeface="Georgia" panose="02040502050405020303" pitchFamily="18" charset="0"/>
              </a:rPr>
              <a:t>Морская охота и промысел.</a:t>
            </a:r>
            <a:r>
              <a:rPr lang="ru-RU" sz="2000" dirty="0">
                <a:latin typeface="Georgia" panose="02040502050405020303" pitchFamily="18" charset="0"/>
              </a:rPr>
              <a:t> На берегу Берингова моря работают рыбоперерабатывающие заводы, морепродукты отправляют в другие регионы России.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ru-RU" sz="2000" b="1" dirty="0">
                <a:latin typeface="Georgia" panose="02040502050405020303" pitchFamily="18" charset="0"/>
              </a:rPr>
              <a:t>Танцы и песни.</a:t>
            </a:r>
          </a:p>
          <a:p>
            <a:pPr rtl="0"/>
            <a:r>
              <a:rPr lang="ru-RU" sz="2000" dirty="0">
                <a:latin typeface="Georgia" panose="02040502050405020303" pitchFamily="18" charset="0"/>
              </a:rPr>
              <a:t>Чукотско-эскимосский ансамбль «Эргырон» с 1968 года дает концерты в Анадыре и по всей Чукотке, а также выступал в Москве.</a:t>
            </a:r>
          </a:p>
        </p:txBody>
      </p:sp>
      <p:pic>
        <p:nvPicPr>
          <p:cNvPr id="1026" name="Picture 2" descr="Оленеводческие хозяйства Чукотки готовятся к весенней корализации">
            <a:extLst>
              <a:ext uri="{FF2B5EF4-FFF2-40B4-BE49-F238E27FC236}">
                <a16:creationId xmlns:a16="http://schemas.microsoft.com/office/drawing/2014/main" id="{6AA821F1-06A1-46AF-8988-2D08EF7ED4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6505" y="0"/>
            <a:ext cx="3190236" cy="23096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Чукотско-эскимосский ансамбль «Эргырон» до конца апреля проведет серию  выступлений в Москве – GoArctic.ru – Портал о развитии Арктики">
            <a:extLst>
              <a:ext uri="{FF2B5EF4-FFF2-40B4-BE49-F238E27FC236}">
                <a16:creationId xmlns:a16="http://schemas.microsoft.com/office/drawing/2014/main" id="{42DDA584-DDE2-4152-AE76-690D02D870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1180" y="4300322"/>
            <a:ext cx="3710607" cy="2062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2C24C18-CF7B-440E-9E94-748E2A563442}"/>
              </a:ext>
            </a:extLst>
          </p:cNvPr>
          <p:cNvSpPr txBox="1"/>
          <p:nvPr/>
        </p:nvSpPr>
        <p:spPr>
          <a:xfrm>
            <a:off x="6132512" y="8891666"/>
            <a:ext cx="99618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модульный береговой рыбоперерабатывающий завод компании «Аквамарин» в Анадыре </a:t>
            </a:r>
          </a:p>
        </p:txBody>
      </p:sp>
      <p:pic>
        <p:nvPicPr>
          <p:cNvPr id="1030" name="Picture 6" descr="Модульный рыбоперерабатывающий завод на Чукотке удвоит мощности">
            <a:extLst>
              <a:ext uri="{FF2B5EF4-FFF2-40B4-BE49-F238E27FC236}">
                <a16:creationId xmlns:a16="http://schemas.microsoft.com/office/drawing/2014/main" id="{1DD6A54A-CF7E-4833-91B9-A5E23768DC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0083" y="1471596"/>
            <a:ext cx="3896401" cy="20443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DC07F3F-996C-4CE6-8358-E4A850582A90}"/>
              </a:ext>
            </a:extLst>
          </p:cNvPr>
          <p:cNvSpPr txBox="1"/>
          <p:nvPr/>
        </p:nvSpPr>
        <p:spPr>
          <a:xfrm>
            <a:off x="4462763" y="3515970"/>
            <a:ext cx="451104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000" dirty="0">
                <a:latin typeface="Georgia" panose="02040502050405020303" pitchFamily="18" charset="0"/>
              </a:rPr>
              <a:t>рыбоперерабатывающий завод компании «Аквамарин» в Анадыре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66E96BE-3E06-424B-9636-506F9F9F0B23}"/>
              </a:ext>
            </a:extLst>
          </p:cNvPr>
          <p:cNvSpPr txBox="1"/>
          <p:nvPr/>
        </p:nvSpPr>
        <p:spPr>
          <a:xfrm>
            <a:off x="8666484" y="2289771"/>
            <a:ext cx="352551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000" dirty="0">
                <a:latin typeface="Georgia" panose="02040502050405020303" pitchFamily="18" charset="0"/>
              </a:rPr>
              <a:t>Оленеводческая бригада на пару тысяч особей</a:t>
            </a:r>
          </a:p>
        </p:txBody>
      </p: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7D10F00E-EF81-4541-AED1-5D080AFF1294}"/>
              </a:ext>
            </a:extLst>
          </p:cNvPr>
          <p:cNvCxnSpPr>
            <a:cxnSpLocks/>
          </p:cNvCxnSpPr>
          <p:nvPr/>
        </p:nvCxnSpPr>
        <p:spPr>
          <a:xfrm>
            <a:off x="4462763" y="-418164"/>
            <a:ext cx="0" cy="831088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1C577C38-D1D4-4A14-B099-317E1E7D490A}"/>
              </a:ext>
            </a:extLst>
          </p:cNvPr>
          <p:cNvSpPr txBox="1"/>
          <p:nvPr/>
        </p:nvSpPr>
        <p:spPr>
          <a:xfrm>
            <a:off x="5245655" y="6425011"/>
            <a:ext cx="684165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000" dirty="0">
                <a:latin typeface="Georgia" panose="02040502050405020303" pitchFamily="18" charset="0"/>
              </a:rPr>
              <a:t>Выступление ансамбля «Эргырон» в Москве 2024 год</a:t>
            </a:r>
          </a:p>
        </p:txBody>
      </p:sp>
    </p:spTree>
    <p:extLst>
      <p:ext uri="{BB962C8B-B14F-4D97-AF65-F5344CB8AC3E}">
        <p14:creationId xmlns:p14="http://schemas.microsoft.com/office/powerpoint/2010/main" val="10553173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B94A124-2F45-4377-A470-B4628CB5AA95}"/>
              </a:ext>
            </a:extLst>
          </p:cNvPr>
          <p:cNvSpPr txBox="1"/>
          <p:nvPr/>
        </p:nvSpPr>
        <p:spPr>
          <a:xfrm>
            <a:off x="0" y="0"/>
            <a:ext cx="99618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b="1" dirty="0"/>
              <a:t>Плюсы и минусы Анадыря</a:t>
            </a:r>
            <a:endParaRPr lang="ru-RU" sz="32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2B8DD01-2C7B-427D-B490-96301775C6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4768" y="1284832"/>
            <a:ext cx="4940300" cy="52442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203136" rIns="0" bIns="203136" numCol="1" anchor="ctr" anchorCtr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ru-RU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Плюсы:</a:t>
            </a:r>
            <a:endParaRPr lang="ru-RU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Уникальная северная природа буквально рядом с городом. 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Идеальная экология и очень чистый воздух.</a:t>
            </a:r>
            <a:endParaRPr lang="ru-RU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Хорошо развита инфраструктура для административного центра всего округа. </a:t>
            </a:r>
            <a:endParaRPr lang="ru-RU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Сохранение б</a:t>
            </a: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огатой культуры и истории Чукотки. </a:t>
            </a:r>
            <a:endParaRPr lang="ru-RU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eorgia" panose="02040502050405020303" pitchFamily="18" charset="0"/>
            </a:endParaRP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948A8DA5-CD6E-457D-B07A-FDF5615C92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66933" y="1284833"/>
            <a:ext cx="5310489" cy="52442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203136" rIns="0" bIns="203136" numCol="1" anchor="ctr" anchorCtr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ru-RU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Минусы и проблемы:</a:t>
            </a:r>
            <a:endParaRPr lang="ru-RU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Высокая стоимость проживания в городе.</a:t>
            </a:r>
            <a:endParaRPr lang="ru-RU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Суровый климат, сильные ветры и продолжительная зима. </a:t>
            </a:r>
            <a:endParaRPr lang="ru-RU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Малое количество общественного транспорта.</a:t>
            </a:r>
            <a:endParaRPr lang="ru-RU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Отсутвие практически всех крупных привычных брендов и сетевых магазинов.</a:t>
            </a:r>
            <a:endParaRPr lang="ru-RU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09535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D45D61E-367B-44D9-BECD-EA1F8D6D4076}"/>
              </a:ext>
            </a:extLst>
          </p:cNvPr>
          <p:cNvSpPr txBox="1"/>
          <p:nvPr/>
        </p:nvSpPr>
        <p:spPr>
          <a:xfrm>
            <a:off x="1115060" y="3136612"/>
            <a:ext cx="99618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200" dirty="0"/>
              <a:t>Спасибо за внимание!</a:t>
            </a:r>
          </a:p>
        </p:txBody>
      </p:sp>
      <p:sp>
        <p:nvSpPr>
          <p:cNvPr id="3" name="Сердце 2">
            <a:extLst>
              <a:ext uri="{FF2B5EF4-FFF2-40B4-BE49-F238E27FC236}">
                <a16:creationId xmlns:a16="http://schemas.microsoft.com/office/drawing/2014/main" id="{CFBB9205-A07C-4B4C-B997-5A5BC5525E07}"/>
              </a:ext>
            </a:extLst>
          </p:cNvPr>
          <p:cNvSpPr/>
          <p:nvPr/>
        </p:nvSpPr>
        <p:spPr>
          <a:xfrm>
            <a:off x="5120640" y="3952240"/>
            <a:ext cx="1981200" cy="1747520"/>
          </a:xfrm>
          <a:prstGeom prst="hear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32186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Тема Office">
  <a:themeElements>
    <a:clrScheme name="Желтый и оранжевый">
      <a:dk1>
        <a:sysClr val="windowText" lastClr="000000"/>
      </a:dk1>
      <a:lt1>
        <a:sysClr val="window" lastClr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1667</TotalTime>
  <Words>562</Words>
  <Application>Microsoft Office PowerPoint</Application>
  <PresentationFormat>Широкоэкранный</PresentationFormat>
  <Paragraphs>67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7" baseType="lpstr">
      <vt:lpstr>Arial</vt:lpstr>
      <vt:lpstr>Calibri</vt:lpstr>
      <vt:lpstr>Calibri Light</vt:lpstr>
      <vt:lpstr>Georgia</vt:lpstr>
      <vt:lpstr>Symbol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Рамка с мягкими формами - шаблон презентации с сайта presentation-creation.ru</dc:title>
  <dc:creator>User Obstinate</dc:creator>
  <cp:lastModifiedBy>Потомственный Оленевод</cp:lastModifiedBy>
  <cp:revision>134</cp:revision>
  <dcterms:created xsi:type="dcterms:W3CDTF">2025-04-04T15:20:50Z</dcterms:created>
  <dcterms:modified xsi:type="dcterms:W3CDTF">2026-10-26T17:02:43Z</dcterms:modified>
</cp:coreProperties>
</file>